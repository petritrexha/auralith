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plugin" id="{29a40abe-7530-b4f7-3c7b-5d249856fe4b}">
          <p14:sldIdLst>
            <p14:sldId id="256"/>
          </p14:sldIdLst>
        </p14:section>
        <p14:section name="The platform" id="{16f43703-30e5-0e2e-e86a-4b2e069e32d5}">
          <p14:sldIdLst>
            <p14:sldId id="25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LearnLoop is a Claude Code plugin built by Auralith. Its job is simple: when an AI agent writes code, the developer should still understand it.
Connecting takes about three minutes. You install the plugin with /plugin, and Claude Code asks for two things: your company's LearnLoop server URL and your personal token from our website. That's it.
Then you code exactly as before. In the background, hooks record every file Claude edits. Before anything leaves your laptop, secret files like .env and API keys are scrubbed. And we add nothing to the coding agent's context, so the agent works just as fast and costs nothing extra.
When Claude finishes a turn, our teaching agent looks at what changed and at what you already know. It skips anything you've learned before or that's too basic for your level, and writes at most two short cards: what the concept is, and why it's in your code. The card appears right in the terminal, like this JWT refresh-rotation example, with a link to read more and to prove you understood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card also lands on our website, and the website is where it becomes useful for a team.
Setup lives inside VS Code. An admin creates your account, since there's no public signup for company tools. You copy your token from the Setup page, open VS Code's terminal, start Claude Code and install the LearnLoop plugin. One click on Test connection confirms you're live.
Developers get a learning feed of every card and a concept library that moves from new to known. The key feature is Prove it: you explain a concept in your own words, about your own code, and our agent grades it. To stop people using AI to pass, the check is typing only, timed, and notices tab switches and pasted or injected text.
Team leads see what a normal dashboard can't: team mastery, comprehension debt, risk hotspots where only one person understands the code, a weekly AI-written briefing with concrete actions, and a full trace of every decision our agent made.
Self-reported learning is easy to fake. LearnLoop verifies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L_CONTENT">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bg2"/>
                </a:solidFill>
              </a:rPr>
              <a:t>LearnLoop  ·  built by Auralith</a:t>
            </a:r>
            <a:endParaRPr lang="en-US" sz="1000" dirty="0"/>
          </a:p>
        </p:txBody>
      </p:sp>
      <p:sp>
        <p:nvSpPr>
          <p:cNvPr id="3" name="Text 1"/>
          <p:cNvSpPr/>
          <p:nvPr>
            <p:ph idx="101" type="body" hasCustomPrompt="1"/>
          </p:nvPr>
        </p:nvSpPr>
        <p:spPr>
          <a:xfrm>
            <a:off x="548640" y="384048"/>
            <a:ext cx="8229600" cy="292608"/>
          </a:xfrm>
          <a:prstGeom prst="rect">
            <a:avLst/>
          </a:prstGeom>
          <a:noFill/>
          <a:ln/>
        </p:spPr>
        <p:txBody>
          <a:bodyPr wrap="square" rtlCol="0"/>
          <a:lstStyle>
            <a:lvl1pPr indent="0" marL="0">
              <a:buNone/>
              <a:defRPr lang="en-US" sz="1200" b="1" spc="300" kern="0" dirty="0">
                <a:solidFill>
                  <a:schemeClr val="accent1"/>
                </a:solidFill>
              </a:defRPr>
            </a:lvl1pPr>
          </a:lstStyle>
          <a:p>
            <a:pPr indent="0" marL="0">
              <a:buNone/>
            </a:pPr>
            <a:endParaRPr lang="en-US" sz="1200" dirty="0"/>
          </a:p>
        </p:txBody>
      </p:sp>
      <p:sp>
        <p:nvSpPr>
          <p:cNvPr id="4" name="Text 1"/>
          <p:cNvSpPr/>
          <p:nvPr>
            <p:ph idx="102" type="title" hasCustomPrompt="1"/>
          </p:nvPr>
        </p:nvSpPr>
        <p:spPr>
          <a:xfrm>
            <a:off x="548640" y="676656"/>
            <a:ext cx="8686800" cy="7772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5" name="Text 1"/>
          <p:cNvSpPr/>
          <p:nvPr>
            <p:ph idx="103" type="body" hasCustomPrompt="1"/>
          </p:nvPr>
        </p:nvSpPr>
        <p:spPr>
          <a:xfrm>
            <a:off x="548640" y="1463040"/>
            <a:ext cx="8686800" cy="41148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
        <p:nvSpPr>
          <p:cNvPr id="25" name="Slide Number Placeholder 0"/>
          <p:cNvSpPr>
            <a:spLocks noGrp="1"/>
          </p:cNvSpPr>
          <p:nvPr>
            <p:ph type="sldNum" sz="quarter" idx="4294967295"/>
          </p:nvPr>
        </p:nvSpPr>
        <p:spPr>
          <a:xfrm>
            <a:off x="11247120" y="638251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8251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300" kern="0" dirty="0">
                <a:solidFill>
                  <a:schemeClr val="accent1"/>
                </a:solidFill>
              </a:rPr>
              <a:t>LEARNLOOP  ·  THE CLAUDE CODE PLUGIN</a:t>
            </a:r>
            <a:endParaRPr lang="en-US" sz="1200" dirty="0"/>
          </a:p>
        </p:txBody>
      </p:sp>
      <p:sp>
        <p:nvSpPr>
          <p:cNvPr id="3" name="Text 1"/>
          <p:cNvSpPr/>
          <p:nvPr>
            <p:ph idx="102" type="title" hasCustomPrompt="1"/>
          </p:nvPr>
        </p:nvSpPr>
        <p:spPr>
          <a:xfrm>
            <a:off x="548640" y="676656"/>
            <a:ext cx="8686800" cy="777240"/>
          </a:xfrm>
          <a:prstGeom prst="rect">
            <a:avLst/>
          </a:prstGeom>
          <a:noFill/>
          <a:ln/>
        </p:spPr>
        <p:txBody>
          <a:bodyPr wrap="square" lIns="0" tIns="0" rIns="0" bIns="0" rtlCol="0" anchor="ctr"/>
          <a:lstStyle/>
          <a:p>
            <a:pPr algn="l" indent="0" marL="0">
              <a:buNone/>
            </a:pPr>
            <a:r>
              <a:rPr lang="en-US" sz="4000" b="1" dirty="0">
                <a:solidFill>
                  <a:schemeClr val="bg1"/>
                </a:solidFill>
              </a:rPr>
              <a:t>It teaches while Claude codes</a:t>
            </a:r>
            <a:endParaRPr lang="en-US" sz="4000" dirty="0"/>
          </a:p>
        </p:txBody>
      </p:sp>
      <p:sp>
        <p:nvSpPr>
          <p:cNvPr id="4" name="Text 1"/>
          <p:cNvSpPr/>
          <p:nvPr>
            <p:ph idx="103" type="body" hasCustomPrompt="1"/>
          </p:nvPr>
        </p:nvSpPr>
        <p:spPr>
          <a:xfrm>
            <a:off x="548640" y="1463040"/>
            <a:ext cx="8686800" cy="411480"/>
          </a:xfrm>
          <a:prstGeom prst="rect">
            <a:avLst/>
          </a:prstGeom>
          <a:noFill/>
          <a:ln/>
        </p:spPr>
        <p:txBody>
          <a:bodyPr wrap="square" lIns="0" tIns="0" rIns="0" bIns="0" rtlCol="0"/>
          <a:lstStyle/>
          <a:p>
            <a:pPr indent="0" marL="0">
              <a:buNone/>
            </a:pPr>
            <a:r>
              <a:rPr lang="en-US" sz="1600" dirty="0">
                <a:solidFill>
                  <a:schemeClr val="bg2"/>
                </a:solidFill>
              </a:rPr>
              <a:t>Learn what your AI just built, while it builds it.</a:t>
            </a:r>
            <a:endParaRPr lang="en-US" sz="1600" dirty="0"/>
          </a:p>
        </p:txBody>
      </p:sp>
      <p:sp>
        <p:nvSpPr>
          <p:cNvPr id="5" name="Brand ring"/>
          <p:cNvSpPr/>
          <p:nvPr/>
        </p:nvSpPr>
        <p:spPr>
          <a:xfrm>
            <a:off x="10561320" y="438912"/>
            <a:ext cx="566928" cy="566928"/>
          </a:xfrm>
          <a:prstGeom prst="donut">
            <a:avLst/>
          </a:prstGeom>
          <a:solidFill>
            <a:schemeClr val="accent1"/>
          </a:solidFill>
          <a:ln/>
        </p:spPr>
      </p:sp>
      <p:sp>
        <p:nvSpPr>
          <p:cNvPr id="6" name="Brand dot"/>
          <p:cNvSpPr/>
          <p:nvPr/>
        </p:nvSpPr>
        <p:spPr>
          <a:xfrm>
            <a:off x="10972800" y="429768"/>
            <a:ext cx="182880" cy="182880"/>
          </a:xfrm>
          <a:prstGeom prst="ellipse">
            <a:avLst/>
          </a:prstGeom>
          <a:solidFill>
            <a:schemeClr val="accent2"/>
          </a:solidFill>
          <a:ln/>
        </p:spPr>
      </p:sp>
      <p:sp>
        <p:nvSpPr>
          <p:cNvPr id="7" name="Brand name"/>
          <p:cNvSpPr txBox="1"/>
          <p:nvPr/>
        </p:nvSpPr>
        <p:spPr>
          <a:xfrm>
            <a:off x="9144000" y="411480"/>
            <a:ext cx="1325880" cy="603504"/>
          </a:xfrm>
          <a:prstGeom prst="rect">
            <a:avLst/>
          </a:prstGeom>
          <a:noFill/>
          <a:ln/>
        </p:spPr>
        <p:txBody>
          <a:bodyPr wrap="square" lIns="0" tIns="0" rIns="0" bIns="0" rtlCol="0" anchor="ctr"/>
          <a:lstStyle/>
          <a:p>
            <a:pPr algn="r" indent="0" marL="0">
              <a:buNone/>
            </a:pPr>
            <a:r>
              <a:rPr lang="en-US" sz="1400" b="1" dirty="0">
                <a:solidFill>
                  <a:schemeClr val="bg1"/>
                </a:solidFill>
              </a:rPr>
              <a:t>LearnLoop</a:t>
            </a:r>
            <a:pPr algn="r" indent="0" marL="0">
              <a:buNone/>
            </a:pPr>
            <a:endParaRPr lang="en-US" sz="1400" dirty="0"/>
          </a:p>
          <a:p>
            <a:pPr algn="r" indent="0" marL="0">
              <a:buNone/>
            </a:pPr>
            <a:r>
              <a:rPr lang="en-US" sz="1000" dirty="0">
                <a:solidFill>
                  <a:schemeClr val="bg2"/>
                </a:solidFill>
              </a:rPr>
              <a:t>by Auralith</a:t>
            </a:r>
            <a:endParaRPr lang="en-US" sz="1400" dirty="0"/>
          </a:p>
        </p:txBody>
      </p:sp>
      <p:sp>
        <p:nvSpPr>
          <p:cNvPr id="8" name="1  Connect once circle"/>
          <p:cNvSpPr/>
          <p:nvPr/>
        </p:nvSpPr>
        <p:spPr>
          <a:xfrm>
            <a:off x="548640" y="2240280"/>
            <a:ext cx="713232" cy="713232"/>
          </a:xfrm>
          <a:prstGeom prst="ellipse">
            <a:avLst/>
          </a:prstGeom>
          <a:solidFill>
            <a:schemeClr val="accent3"/>
          </a:solidFill>
          <a:ln w="12700">
            <a:solidFill>
              <a:schemeClr val="accent4"/>
            </a:solidFill>
            <a:prstDash val="solid"/>
          </a:ln>
        </p:spPr>
      </p:sp>
      <p:pic>
        <p:nvPicPr>
          <p:cNvPr id="9" name="1  Connect once icon" descr="preencoded.png">    </p:cNvPr>
          <p:cNvPicPr>
            <a:picLocks noChangeAspect="1"/>
          </p:cNvPicPr>
          <p:nvPr/>
        </p:nvPicPr>
        <p:blipFill>
          <a:blip r:embed="rId1"/>
          <a:stretch>
            <a:fillRect/>
          </a:stretch>
        </p:blipFill>
        <p:spPr>
          <a:xfrm>
            <a:off x="741213" y="2432853"/>
            <a:ext cx="328087" cy="328087"/>
          </a:xfrm>
          <a:prstGeom prst="rect">
            <a:avLst/>
          </a:prstGeom>
        </p:spPr>
      </p:pic>
      <p:sp>
        <p:nvSpPr>
          <p:cNvPr id="10" name="Text 7"/>
          <p:cNvSpPr txBox="1"/>
          <p:nvPr/>
        </p:nvSpPr>
        <p:spPr>
          <a:xfrm>
            <a:off x="1481328" y="2194560"/>
            <a:ext cx="4800600" cy="365760"/>
          </a:xfrm>
          <a:prstGeom prst="rect">
            <a:avLst/>
          </a:prstGeom>
          <a:noFill/>
          <a:ln/>
        </p:spPr>
        <p:txBody>
          <a:bodyPr wrap="square" lIns="0" tIns="0" rIns="0" bIns="0" rtlCol="0" anchor="ctr"/>
          <a:lstStyle/>
          <a:p>
            <a:pPr indent="0" marL="0">
              <a:buNone/>
            </a:pPr>
            <a:r>
              <a:rPr lang="en-US" sz="1900" b="1" dirty="0">
                <a:solidFill>
                  <a:schemeClr val="bg1"/>
                </a:solidFill>
              </a:rPr>
              <a:t>1  Connect once</a:t>
            </a:r>
            <a:endParaRPr lang="en-US" sz="1900" dirty="0"/>
          </a:p>
        </p:txBody>
      </p:sp>
      <p:sp>
        <p:nvSpPr>
          <p:cNvPr id="11" name="Text 8"/>
          <p:cNvSpPr txBox="1"/>
          <p:nvPr/>
        </p:nvSpPr>
        <p:spPr>
          <a:xfrm>
            <a:off x="1481328" y="2578608"/>
            <a:ext cx="4800600" cy="566928"/>
          </a:xfrm>
          <a:prstGeom prst="rect">
            <a:avLst/>
          </a:prstGeom>
          <a:noFill/>
          <a:ln/>
        </p:spPr>
        <p:txBody>
          <a:bodyPr wrap="square" lIns="0" tIns="0" rIns="0" bIns="0" rtlCol="0" anchor="t"/>
          <a:lstStyle/>
          <a:p>
            <a:pPr indent="0" marL="0">
              <a:buNone/>
            </a:pPr>
            <a:r>
              <a:rPr lang="en-US" sz="1400" dirty="0">
                <a:solidFill>
                  <a:schemeClr val="bg2"/>
                </a:solidFill>
              </a:rPr>
              <a:t>Install the plugin in Claude Code and paste your server URL and personal token. About 3 minutes.</a:t>
            </a:r>
            <a:endParaRPr lang="en-US" sz="1400" dirty="0"/>
          </a:p>
        </p:txBody>
      </p:sp>
      <p:sp>
        <p:nvSpPr>
          <p:cNvPr id="12" name="2  Code as usual circle"/>
          <p:cNvSpPr/>
          <p:nvPr/>
        </p:nvSpPr>
        <p:spPr>
          <a:xfrm>
            <a:off x="548640" y="3383280"/>
            <a:ext cx="713232" cy="713232"/>
          </a:xfrm>
          <a:prstGeom prst="ellipse">
            <a:avLst/>
          </a:prstGeom>
          <a:solidFill>
            <a:schemeClr val="accent3"/>
          </a:solidFill>
          <a:ln w="12700">
            <a:solidFill>
              <a:schemeClr val="accent4"/>
            </a:solidFill>
            <a:prstDash val="solid"/>
          </a:ln>
        </p:spPr>
      </p:sp>
      <p:pic>
        <p:nvPicPr>
          <p:cNvPr id="13" name="2  Code as usual icon" descr="preencoded.png">    </p:cNvPr>
          <p:cNvPicPr>
            <a:picLocks noChangeAspect="1"/>
          </p:cNvPicPr>
          <p:nvPr/>
        </p:nvPicPr>
        <p:blipFill>
          <a:blip r:embed="rId2"/>
          <a:stretch>
            <a:fillRect/>
          </a:stretch>
        </p:blipFill>
        <p:spPr>
          <a:xfrm>
            <a:off x="741213" y="3575853"/>
            <a:ext cx="328087" cy="328087"/>
          </a:xfrm>
          <a:prstGeom prst="rect">
            <a:avLst/>
          </a:prstGeom>
        </p:spPr>
      </p:pic>
      <p:sp>
        <p:nvSpPr>
          <p:cNvPr id="14" name="Text 10"/>
          <p:cNvSpPr txBox="1"/>
          <p:nvPr/>
        </p:nvSpPr>
        <p:spPr>
          <a:xfrm>
            <a:off x="1481328" y="3337560"/>
            <a:ext cx="4800600" cy="365760"/>
          </a:xfrm>
          <a:prstGeom prst="rect">
            <a:avLst/>
          </a:prstGeom>
          <a:noFill/>
          <a:ln/>
        </p:spPr>
        <p:txBody>
          <a:bodyPr wrap="square" lIns="0" tIns="0" rIns="0" bIns="0" rtlCol="0" anchor="ctr"/>
          <a:lstStyle/>
          <a:p>
            <a:pPr indent="0" marL="0">
              <a:buNone/>
            </a:pPr>
            <a:r>
              <a:rPr lang="en-US" sz="1900" b="1" dirty="0">
                <a:solidFill>
                  <a:schemeClr val="bg1"/>
                </a:solidFill>
              </a:rPr>
              <a:t>2  Code as usual</a:t>
            </a:r>
            <a:endParaRPr lang="en-US" sz="1900" dirty="0"/>
          </a:p>
        </p:txBody>
      </p:sp>
      <p:sp>
        <p:nvSpPr>
          <p:cNvPr id="15" name="Text 11"/>
          <p:cNvSpPr txBox="1"/>
          <p:nvPr/>
        </p:nvSpPr>
        <p:spPr>
          <a:xfrm>
            <a:off x="1481328" y="3721608"/>
            <a:ext cx="4800600" cy="566928"/>
          </a:xfrm>
          <a:prstGeom prst="rect">
            <a:avLst/>
          </a:prstGeom>
          <a:noFill/>
          <a:ln/>
        </p:spPr>
        <p:txBody>
          <a:bodyPr wrap="square" lIns="0" tIns="0" rIns="0" bIns="0" rtlCol="0" anchor="t"/>
          <a:lstStyle/>
          <a:p>
            <a:pPr indent="0" marL="0">
              <a:buNone/>
            </a:pPr>
            <a:r>
              <a:rPr lang="en-US" sz="1400" dirty="0">
                <a:solidFill>
                  <a:schemeClr val="bg2"/>
                </a:solidFill>
              </a:rPr>
              <a:t>Hooks quietly record every file Claude edits. Secrets are scrubbed locally, and the agent's context stays untouched.</a:t>
            </a:r>
            <a:endParaRPr lang="en-US" sz="1400" dirty="0"/>
          </a:p>
        </p:txBody>
      </p:sp>
      <p:sp>
        <p:nvSpPr>
          <p:cNvPr id="16" name="3  Learn in the moment circle"/>
          <p:cNvSpPr/>
          <p:nvPr/>
        </p:nvSpPr>
        <p:spPr>
          <a:xfrm>
            <a:off x="548640" y="4526280"/>
            <a:ext cx="713232" cy="713232"/>
          </a:xfrm>
          <a:prstGeom prst="ellipse">
            <a:avLst/>
          </a:prstGeom>
          <a:solidFill>
            <a:schemeClr val="accent3"/>
          </a:solidFill>
          <a:ln w="12700">
            <a:solidFill>
              <a:schemeClr val="accent4"/>
            </a:solidFill>
            <a:prstDash val="solid"/>
          </a:ln>
        </p:spPr>
      </p:sp>
      <p:pic>
        <p:nvPicPr>
          <p:cNvPr id="17" name="3  Learn in the moment icon" descr="preencoded.png">    </p:cNvPr>
          <p:cNvPicPr>
            <a:picLocks noChangeAspect="1"/>
          </p:cNvPicPr>
          <p:nvPr/>
        </p:nvPicPr>
        <p:blipFill>
          <a:blip r:embed="rId3"/>
          <a:stretch>
            <a:fillRect/>
          </a:stretch>
        </p:blipFill>
        <p:spPr>
          <a:xfrm>
            <a:off x="741213" y="4718853"/>
            <a:ext cx="328087" cy="328087"/>
          </a:xfrm>
          <a:prstGeom prst="rect">
            <a:avLst/>
          </a:prstGeom>
        </p:spPr>
      </p:pic>
      <p:sp>
        <p:nvSpPr>
          <p:cNvPr id="18" name="Text 13"/>
          <p:cNvSpPr txBox="1"/>
          <p:nvPr/>
        </p:nvSpPr>
        <p:spPr>
          <a:xfrm>
            <a:off x="1481328" y="4480560"/>
            <a:ext cx="4800600" cy="365760"/>
          </a:xfrm>
          <a:prstGeom prst="rect">
            <a:avLst/>
          </a:prstGeom>
          <a:noFill/>
          <a:ln/>
        </p:spPr>
        <p:txBody>
          <a:bodyPr wrap="square" lIns="0" tIns="0" rIns="0" bIns="0" rtlCol="0" anchor="ctr"/>
          <a:lstStyle/>
          <a:p>
            <a:pPr indent="0" marL="0">
              <a:buNone/>
            </a:pPr>
            <a:r>
              <a:rPr lang="en-US" sz="1900" b="1" dirty="0">
                <a:solidFill>
                  <a:schemeClr val="bg1"/>
                </a:solidFill>
              </a:rPr>
              <a:t>3  Learn in the moment</a:t>
            </a:r>
            <a:endParaRPr lang="en-US" sz="1900" dirty="0"/>
          </a:p>
        </p:txBody>
      </p:sp>
      <p:sp>
        <p:nvSpPr>
          <p:cNvPr id="19" name="Text 14"/>
          <p:cNvSpPr txBox="1"/>
          <p:nvPr/>
        </p:nvSpPr>
        <p:spPr>
          <a:xfrm>
            <a:off x="1481328" y="4864608"/>
            <a:ext cx="4800600" cy="566928"/>
          </a:xfrm>
          <a:prstGeom prst="rect">
            <a:avLst/>
          </a:prstGeom>
          <a:noFill/>
          <a:ln/>
        </p:spPr>
        <p:txBody>
          <a:bodyPr wrap="square" lIns="0" tIns="0" rIns="0" bIns="0" rtlCol="0" anchor="t"/>
          <a:lstStyle/>
          <a:p>
            <a:pPr indent="0" marL="0">
              <a:buNone/>
            </a:pPr>
            <a:r>
              <a:rPr lang="en-US" sz="1400" dirty="0">
                <a:solidFill>
                  <a:schemeClr val="bg2"/>
                </a:solidFill>
              </a:rPr>
              <a:t>At the end of each turn, our teaching agent checks what you already know and explains 0–2 new concepts in your code.</a:t>
            </a:r>
            <a:endParaRPr lang="en-US" sz="1400" dirty="0"/>
          </a:p>
        </p:txBody>
      </p:sp>
      <p:sp>
        <p:nvSpPr>
          <p:cNvPr id="20" name="Terminal window"/>
          <p:cNvSpPr/>
          <p:nvPr/>
        </p:nvSpPr>
        <p:spPr>
          <a:xfrm>
            <a:off x="6583680" y="2286000"/>
            <a:ext cx="5056632" cy="3017520"/>
          </a:xfrm>
          <a:prstGeom prst="roundRect">
            <a:avLst>
              <a:gd name="adj" fmla="val 3636"/>
            </a:avLst>
          </a:prstGeom>
          <a:solidFill>
            <a:schemeClr val="accent5"/>
          </a:solidFill>
          <a:ln w="15875">
            <a:solidFill>
              <a:schemeClr val="accent4"/>
            </a:solidFill>
            <a:prstDash val="solid"/>
          </a:ln>
          <a:effectLst>
            <a:outerShdw sx="100000" sy="100000" kx="0" ky="0" algn="bl" rotWithShape="0" blurRad="152400" dist="50800" dir="5400000">
              <a:srgbClr val="000000">
                <a:alpha val="45000"/>
              </a:srgbClr>
            </a:outerShdw>
          </a:effectLst>
        </p:spPr>
      </p:sp>
      <p:sp>
        <p:nvSpPr>
          <p:cNvPr id="21" name="Terminal dot 0"/>
          <p:cNvSpPr/>
          <p:nvPr/>
        </p:nvSpPr>
        <p:spPr>
          <a:xfrm>
            <a:off x="6812280" y="2468880"/>
            <a:ext cx="118872" cy="118872"/>
          </a:xfrm>
          <a:prstGeom prst="ellipse">
            <a:avLst/>
          </a:prstGeom>
          <a:solidFill>
            <a:schemeClr val="accent2"/>
          </a:solidFill>
          <a:ln/>
        </p:spPr>
      </p:sp>
      <p:sp>
        <p:nvSpPr>
          <p:cNvPr id="22" name="Terminal dot 1"/>
          <p:cNvSpPr/>
          <p:nvPr/>
        </p:nvSpPr>
        <p:spPr>
          <a:xfrm>
            <a:off x="7031736" y="2468880"/>
            <a:ext cx="118872" cy="118872"/>
          </a:xfrm>
          <a:prstGeom prst="ellipse">
            <a:avLst/>
          </a:prstGeom>
          <a:solidFill>
            <a:schemeClr val="accent1"/>
          </a:solidFill>
          <a:ln/>
        </p:spPr>
      </p:sp>
      <p:sp>
        <p:nvSpPr>
          <p:cNvPr id="23" name="Terminal dot 2"/>
          <p:cNvSpPr/>
          <p:nvPr/>
        </p:nvSpPr>
        <p:spPr>
          <a:xfrm>
            <a:off x="7251192" y="2468880"/>
            <a:ext cx="118872" cy="118872"/>
          </a:xfrm>
          <a:prstGeom prst="ellipse">
            <a:avLst/>
          </a:prstGeom>
          <a:solidFill>
            <a:schemeClr val="bg2"/>
          </a:solidFill>
          <a:ln/>
        </p:spPr>
      </p:sp>
      <p:sp>
        <p:nvSpPr>
          <p:cNvPr id="24" name="Text 19"/>
          <p:cNvSpPr txBox="1"/>
          <p:nvPr/>
        </p:nvSpPr>
        <p:spPr>
          <a:xfrm>
            <a:off x="7543800" y="2395728"/>
            <a:ext cx="3200400" cy="274320"/>
          </a:xfrm>
          <a:prstGeom prst="rect">
            <a:avLst/>
          </a:prstGeom>
          <a:noFill/>
          <a:ln/>
        </p:spPr>
        <p:txBody>
          <a:bodyPr wrap="square" lIns="0" tIns="0" rIns="0" bIns="0" rtlCol="0" anchor="ctr"/>
          <a:lstStyle/>
          <a:p>
            <a:pPr indent="0" marL="0">
              <a:buNone/>
            </a:pPr>
            <a:r>
              <a:rPr lang="en-US" sz="1000" dirty="0">
                <a:solidFill>
                  <a:schemeClr val="bg2"/>
                </a:solidFill>
              </a:rPr>
              <a:t>Claude Code · VS Code terminal</a:t>
            </a:r>
            <a:endParaRPr lang="en-US" sz="1000" dirty="0"/>
          </a:p>
        </p:txBody>
      </p:sp>
      <p:sp>
        <p:nvSpPr>
          <p:cNvPr id="25" name="Terminal text"/>
          <p:cNvSpPr txBox="1"/>
          <p:nvPr/>
        </p:nvSpPr>
        <p:spPr>
          <a:xfrm>
            <a:off x="6858000" y="2788920"/>
            <a:ext cx="4507992" cy="2331720"/>
          </a:xfrm>
          <a:prstGeom prst="rect">
            <a:avLst/>
          </a:prstGeom>
          <a:noFill/>
          <a:ln/>
        </p:spPr>
        <p:txBody>
          <a:bodyPr wrap="square" lIns="0" tIns="0" rIns="0" bIns="0" rtlCol="0" anchor="t"/>
          <a:lstStyle/>
          <a:p>
            <a:pPr indent="0" marL="0">
              <a:buNone/>
            </a:pPr>
            <a:r>
              <a:rPr lang="en-US" sz="1200" dirty="0">
                <a:solidFill>
                  <a:schemeClr val="bg2"/>
                </a:solidFill>
                <a:latin typeface="Courier New" pitchFamily="34" charset="0"/>
                <a:ea typeface="Courier New" pitchFamily="34" charset="-122"/>
                <a:cs typeface="Courier New" pitchFamily="34" charset="-120"/>
              </a:rPr>
              <a:t>&gt; add a refresh-token endpoint</a:t>
            </a:r>
            <a:endParaRPr lang="en-US" sz="1200" dirty="0"/>
          </a:p>
          <a:p>
            <a:pPr indent="0" marL="0">
              <a:spcAft>
                <a:spcPts val="1000"/>
              </a:spcAft>
              <a:buNone/>
            </a:pPr>
            <a:r>
              <a:rPr lang="en-US" sz="1200" dirty="0">
                <a:solidFill>
                  <a:schemeClr val="bg2"/>
                </a:solidFill>
                <a:latin typeface="Courier New" pitchFamily="34" charset="0"/>
                <a:ea typeface="Courier New" pitchFamily="34" charset="-122"/>
                <a:cs typeface="Courier New" pitchFamily="34" charset="-120"/>
              </a:rPr>
              <a:t>✓ Edited app/api/auth/refresh/route.ts</a:t>
            </a:r>
            <a:endParaRPr lang="en-US" sz="1200" dirty="0"/>
          </a:p>
          <a:p>
            <a:pPr indent="0" marL="0">
              <a:buNone/>
            </a:pPr>
            <a:r>
              <a:rPr lang="en-US" sz="1200" b="1" dirty="0">
                <a:solidFill>
                  <a:schemeClr val="accent2"/>
                </a:solidFill>
                <a:latin typeface="Courier New" pitchFamily="34" charset="0"/>
                <a:ea typeface="Courier New" pitchFamily="34" charset="-122"/>
                <a:cs typeface="Courier New" pitchFamily="34" charset="-120"/>
              </a:rPr>
              <a:t>💡 LearnLoop · JWT refresh token rotation</a:t>
            </a:r>
            <a:endParaRPr lang="en-US" sz="1200" dirty="0"/>
          </a:p>
          <a:p>
            <a:pPr indent="0" marL="0">
              <a:spcAft>
                <a:spcPts val="600"/>
              </a:spcAft>
              <a:buNone/>
            </a:pPr>
            <a:r>
              <a:rPr lang="en-US" sz="1200" dirty="0">
                <a:solidFill>
                  <a:schemeClr val="bg1"/>
                </a:solidFill>
                <a:latin typeface="Courier New" pitchFamily="34" charset="0"/>
                <a:ea typeface="Courier New" pitchFamily="34" charset="-122"/>
                <a:cs typeface="Courier New" pitchFamily="34" charset="-120"/>
              </a:rPr>
              <a:t>Short-lived access tokens plus a refresh token that is replaced on every use, so a stolen one only works once.</a:t>
            </a:r>
            <a:endParaRPr lang="en-US" sz="1200" dirty="0"/>
          </a:p>
          <a:p>
            <a:pPr indent="0" marL="0">
              <a:spcAft>
                <a:spcPts val="600"/>
              </a:spcAft>
              <a:buNone/>
            </a:pPr>
            <a:r>
              <a:rPr lang="en-US" sz="1200" dirty="0">
                <a:solidFill>
                  <a:schemeClr val="bg1"/>
                </a:solidFill>
                <a:latin typeface="Courier New" pitchFamily="34" charset="0"/>
                <a:ea typeface="Courier New" pitchFamily="34" charset="-122"/>
                <a:cs typeface="Courier New" pitchFamily="34" charset="-120"/>
              </a:rPr>
              <a:t>Here: route.ts issues a new refresh token on every /refresh call.</a:t>
            </a:r>
            <a:endParaRPr lang="en-US" sz="1200" dirty="0"/>
          </a:p>
          <a:p>
            <a:pPr indent="0" marL="0">
              <a:buNone/>
            </a:pPr>
            <a:r>
              <a:rPr lang="en-US" sz="1200" dirty="0">
                <a:solidFill>
                  <a:schemeClr val="accent1"/>
                </a:solidFill>
                <a:latin typeface="Courier New" pitchFamily="34" charset="0"/>
                <a:ea typeface="Courier New" pitchFamily="34" charset="-122"/>
                <a:cs typeface="Courier New" pitchFamily="34" charset="-120"/>
              </a:rPr>
              <a:t>Read more &amp; prove it → /app/cards/41</a:t>
            </a:r>
            <a:endParaRPr lang="en-US" sz="1200" dirty="0"/>
          </a:p>
        </p:txBody>
      </p:sp>
      <p:sp>
        <p:nvSpPr>
          <p:cNvPr id="26" name="Pill 0 tokens added to the agent"/>
          <p:cNvSpPr/>
          <p:nvPr/>
        </p:nvSpPr>
        <p:spPr>
          <a:xfrm>
            <a:off x="548640" y="5833872"/>
            <a:ext cx="3017520" cy="384048"/>
          </a:xfrm>
          <a:prstGeom prst="roundRect">
            <a:avLst>
              <a:gd name="adj" fmla="val 50000"/>
            </a:avLst>
          </a:prstGeom>
          <a:solidFill>
            <a:schemeClr val="tx2"/>
          </a:solidFill>
          <a:ln w="12700">
            <a:solidFill>
              <a:schemeClr val="accent4"/>
            </a:solidFill>
            <a:prstDash val="solid"/>
          </a:ln>
        </p:spPr>
      </p:sp>
      <p:sp>
        <p:nvSpPr>
          <p:cNvPr id="27" name="Text 22"/>
          <p:cNvSpPr txBox="1"/>
          <p:nvPr/>
        </p:nvSpPr>
        <p:spPr>
          <a:xfrm>
            <a:off x="548640" y="5833872"/>
            <a:ext cx="3017520" cy="384048"/>
          </a:xfrm>
          <a:prstGeom prst="rect">
            <a:avLst/>
          </a:prstGeom>
          <a:noFill/>
          <a:ln/>
        </p:spPr>
        <p:txBody>
          <a:bodyPr wrap="square" lIns="0" tIns="0" rIns="0" bIns="0" rtlCol="0" anchor="ctr"/>
          <a:lstStyle/>
          <a:p>
            <a:pPr algn="ctr" indent="0" marL="0">
              <a:buNone/>
            </a:pPr>
            <a:r>
              <a:rPr lang="en-US" sz="1300" b="1" dirty="0">
                <a:solidFill>
                  <a:schemeClr val="accent1"/>
                </a:solidFill>
              </a:rPr>
              <a:t>0 tokens added to the agent</a:t>
            </a:r>
            <a:endParaRPr lang="en-US" sz="1300" dirty="0"/>
          </a:p>
        </p:txBody>
      </p:sp>
      <p:sp>
        <p:nvSpPr>
          <p:cNvPr id="28" name="Pill Max 2 cards per turn"/>
          <p:cNvSpPr/>
          <p:nvPr/>
        </p:nvSpPr>
        <p:spPr>
          <a:xfrm>
            <a:off x="3794760" y="5833872"/>
            <a:ext cx="2377440" cy="384048"/>
          </a:xfrm>
          <a:prstGeom prst="roundRect">
            <a:avLst>
              <a:gd name="adj" fmla="val 50000"/>
            </a:avLst>
          </a:prstGeom>
          <a:solidFill>
            <a:schemeClr val="tx2"/>
          </a:solidFill>
          <a:ln w="12700">
            <a:solidFill>
              <a:schemeClr val="accent4"/>
            </a:solidFill>
            <a:prstDash val="solid"/>
          </a:ln>
        </p:spPr>
      </p:sp>
      <p:sp>
        <p:nvSpPr>
          <p:cNvPr id="29" name="Text 24"/>
          <p:cNvSpPr txBox="1"/>
          <p:nvPr/>
        </p:nvSpPr>
        <p:spPr>
          <a:xfrm>
            <a:off x="3794760" y="5833872"/>
            <a:ext cx="2377440" cy="384048"/>
          </a:xfrm>
          <a:prstGeom prst="rect">
            <a:avLst/>
          </a:prstGeom>
          <a:noFill/>
          <a:ln/>
        </p:spPr>
        <p:txBody>
          <a:bodyPr wrap="square" lIns="0" tIns="0" rIns="0" bIns="0" rtlCol="0" anchor="ctr"/>
          <a:lstStyle/>
          <a:p>
            <a:pPr algn="ctr" indent="0" marL="0">
              <a:buNone/>
            </a:pPr>
            <a:r>
              <a:rPr lang="en-US" sz="1300" b="1" dirty="0">
                <a:solidFill>
                  <a:schemeClr val="accent1"/>
                </a:solidFill>
              </a:rPr>
              <a:t>Max 2 cards per turn</a:t>
            </a:r>
            <a:endParaRPr lang="en-US" sz="1300" dirty="0"/>
          </a:p>
        </p:txBody>
      </p:sp>
      <p:sp>
        <p:nvSpPr>
          <p:cNvPr id="30" name="Pill Never repeats what you know"/>
          <p:cNvSpPr/>
          <p:nvPr/>
        </p:nvSpPr>
        <p:spPr>
          <a:xfrm>
            <a:off x="6583680" y="5833872"/>
            <a:ext cx="3108960" cy="384048"/>
          </a:xfrm>
          <a:prstGeom prst="roundRect">
            <a:avLst>
              <a:gd name="adj" fmla="val 50000"/>
            </a:avLst>
          </a:prstGeom>
          <a:solidFill>
            <a:schemeClr val="tx2"/>
          </a:solidFill>
          <a:ln w="12700">
            <a:solidFill>
              <a:schemeClr val="accent2"/>
            </a:solidFill>
            <a:prstDash val="solid"/>
          </a:ln>
        </p:spPr>
      </p:sp>
      <p:sp>
        <p:nvSpPr>
          <p:cNvPr id="31" name="Text 26"/>
          <p:cNvSpPr txBox="1"/>
          <p:nvPr/>
        </p:nvSpPr>
        <p:spPr>
          <a:xfrm>
            <a:off x="6583680" y="5833872"/>
            <a:ext cx="3108960" cy="384048"/>
          </a:xfrm>
          <a:prstGeom prst="rect">
            <a:avLst/>
          </a:prstGeom>
          <a:noFill/>
          <a:ln/>
        </p:spPr>
        <p:txBody>
          <a:bodyPr wrap="square" lIns="0" tIns="0" rIns="0" bIns="0" rtlCol="0" anchor="ctr"/>
          <a:lstStyle/>
          <a:p>
            <a:pPr algn="ctr" indent="0" marL="0">
              <a:buNone/>
            </a:pPr>
            <a:r>
              <a:rPr lang="en-US" sz="1300" b="1" dirty="0">
                <a:solidFill>
                  <a:schemeClr val="accent2"/>
                </a:solidFill>
              </a:rPr>
              <a:t>Never repeats what you know</a:t>
            </a:r>
            <a:endParaRPr lang="en-US" sz="1300" dirty="0"/>
          </a:p>
        </p:txBody>
      </p:sp>
      <p:sp>
        <p:nvSpPr>
          <p:cNvPr id="25" name="Slide Number Placeholder 0"/>
          <p:cNvSpPr>
            <a:spLocks noGrp="1"/>
          </p:cNvSpPr>
          <p:nvPr>
            <p:ph type="sldNum" sz="quarter" idx="4294967295"/>
          </p:nvPr>
        </p:nvSpPr>
        <p:spPr>
          <a:xfrm>
            <a:off x="11247120" y="638251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300" kern="0" dirty="0">
                <a:solidFill>
                  <a:schemeClr val="accent1"/>
                </a:solidFill>
              </a:rPr>
              <a:t>LEARNLOOP  ·  THE WEB PLATFORM</a:t>
            </a:r>
            <a:endParaRPr lang="en-US" sz="1200" dirty="0"/>
          </a:p>
        </p:txBody>
      </p:sp>
      <p:sp>
        <p:nvSpPr>
          <p:cNvPr id="3" name="Text 1"/>
          <p:cNvSpPr/>
          <p:nvPr>
            <p:ph idx="102" type="title" hasCustomPrompt="1"/>
          </p:nvPr>
        </p:nvSpPr>
        <p:spPr>
          <a:xfrm>
            <a:off x="548640" y="676656"/>
            <a:ext cx="8686800" cy="777240"/>
          </a:xfrm>
          <a:prstGeom prst="rect">
            <a:avLst/>
          </a:prstGeom>
          <a:noFill/>
          <a:ln/>
        </p:spPr>
        <p:txBody>
          <a:bodyPr wrap="square" lIns="0" tIns="0" rIns="0" bIns="0" rtlCol="0" anchor="ctr"/>
          <a:lstStyle/>
          <a:p>
            <a:pPr algn="l" indent="0" marL="0">
              <a:buNone/>
            </a:pPr>
            <a:r>
              <a:rPr lang="en-US" sz="4000" b="1" dirty="0">
                <a:solidFill>
                  <a:schemeClr val="bg1"/>
                </a:solidFill>
              </a:rPr>
              <a:t>Where learning becomes visible</a:t>
            </a:r>
            <a:endParaRPr lang="en-US" sz="4000" dirty="0"/>
          </a:p>
        </p:txBody>
      </p:sp>
      <p:sp>
        <p:nvSpPr>
          <p:cNvPr id="4" name="Text 1"/>
          <p:cNvSpPr/>
          <p:nvPr>
            <p:ph idx="103" type="body" hasCustomPrompt="1"/>
          </p:nvPr>
        </p:nvSpPr>
        <p:spPr>
          <a:xfrm>
            <a:off x="548640" y="1463040"/>
            <a:ext cx="8686800" cy="411480"/>
          </a:xfrm>
          <a:prstGeom prst="rect">
            <a:avLst/>
          </a:prstGeom>
          <a:noFill/>
          <a:ln/>
        </p:spPr>
        <p:txBody>
          <a:bodyPr wrap="square" lIns="0" tIns="0" rIns="0" bIns="0" rtlCol="0"/>
          <a:lstStyle/>
          <a:p>
            <a:pPr indent="0" marL="0">
              <a:buNone/>
            </a:pPr>
            <a:r>
              <a:rPr lang="en-US" sz="1600" dirty="0">
                <a:solidFill>
                  <a:schemeClr val="bg2"/>
                </a:solidFill>
              </a:rPr>
              <a:t>One workspace for developers and team leads, connected to Claude Code in VS Code.</a:t>
            </a:r>
            <a:endParaRPr lang="en-US" sz="1600" dirty="0"/>
          </a:p>
        </p:txBody>
      </p:sp>
      <p:sp>
        <p:nvSpPr>
          <p:cNvPr id="5" name="Brand ring"/>
          <p:cNvSpPr/>
          <p:nvPr/>
        </p:nvSpPr>
        <p:spPr>
          <a:xfrm>
            <a:off x="10561320" y="438912"/>
            <a:ext cx="566928" cy="566928"/>
          </a:xfrm>
          <a:prstGeom prst="donut">
            <a:avLst/>
          </a:prstGeom>
          <a:solidFill>
            <a:schemeClr val="accent1"/>
          </a:solidFill>
          <a:ln/>
        </p:spPr>
      </p:sp>
      <p:sp>
        <p:nvSpPr>
          <p:cNvPr id="6" name="Brand dot"/>
          <p:cNvSpPr/>
          <p:nvPr/>
        </p:nvSpPr>
        <p:spPr>
          <a:xfrm>
            <a:off x="10972800" y="429768"/>
            <a:ext cx="182880" cy="182880"/>
          </a:xfrm>
          <a:prstGeom prst="ellipse">
            <a:avLst/>
          </a:prstGeom>
          <a:solidFill>
            <a:schemeClr val="accent2"/>
          </a:solidFill>
          <a:ln/>
        </p:spPr>
      </p:sp>
      <p:sp>
        <p:nvSpPr>
          <p:cNvPr id="7" name="Brand name"/>
          <p:cNvSpPr txBox="1"/>
          <p:nvPr/>
        </p:nvSpPr>
        <p:spPr>
          <a:xfrm>
            <a:off x="9144000" y="411480"/>
            <a:ext cx="1325880" cy="603504"/>
          </a:xfrm>
          <a:prstGeom prst="rect">
            <a:avLst/>
          </a:prstGeom>
          <a:noFill/>
          <a:ln/>
        </p:spPr>
        <p:txBody>
          <a:bodyPr wrap="square" lIns="0" tIns="0" rIns="0" bIns="0" rtlCol="0" anchor="ctr"/>
          <a:lstStyle/>
          <a:p>
            <a:pPr algn="r" indent="0" marL="0">
              <a:buNone/>
            </a:pPr>
            <a:r>
              <a:rPr lang="en-US" sz="1400" b="1" dirty="0">
                <a:solidFill>
                  <a:schemeClr val="bg1"/>
                </a:solidFill>
              </a:rPr>
              <a:t>LearnLoop</a:t>
            </a:r>
            <a:pPr algn="r" indent="0" marL="0">
              <a:buNone/>
            </a:pPr>
            <a:endParaRPr lang="en-US" sz="1400" dirty="0"/>
          </a:p>
          <a:p>
            <a:pPr algn="r" indent="0" marL="0">
              <a:buNone/>
            </a:pPr>
            <a:r>
              <a:rPr lang="en-US" sz="1000" dirty="0">
                <a:solidFill>
                  <a:schemeClr val="bg2"/>
                </a:solidFill>
              </a:rPr>
              <a:t>by Auralith</a:t>
            </a:r>
            <a:endParaRPr lang="en-US" sz="1400" dirty="0"/>
          </a:p>
        </p:txBody>
      </p:sp>
      <p:sp>
        <p:nvSpPr>
          <p:cNvPr id="8" name="Setup card"/>
          <p:cNvSpPr/>
          <p:nvPr/>
        </p:nvSpPr>
        <p:spPr>
          <a:xfrm>
            <a:off x="548640" y="2148840"/>
            <a:ext cx="3886200" cy="3456432"/>
          </a:xfrm>
          <a:prstGeom prst="roundRect">
            <a:avLst>
              <a:gd name="adj" fmla="val 3175"/>
            </a:avLst>
          </a:prstGeom>
          <a:solidFill>
            <a:schemeClr val="tx2"/>
          </a:solidFill>
          <a:ln w="12700">
            <a:solidFill>
              <a:schemeClr val="accent3"/>
            </a:solidFill>
            <a:prstDash val="solid"/>
          </a:ln>
        </p:spPr>
      </p:sp>
      <p:sp>
        <p:nvSpPr>
          <p:cNvPr id="9" name="Setup circle"/>
          <p:cNvSpPr/>
          <p:nvPr/>
        </p:nvSpPr>
        <p:spPr>
          <a:xfrm>
            <a:off x="777240" y="2377440"/>
            <a:ext cx="548640" cy="548640"/>
          </a:xfrm>
          <a:prstGeom prst="ellipse">
            <a:avLst/>
          </a:prstGeom>
          <a:solidFill>
            <a:schemeClr val="accent3"/>
          </a:solidFill>
          <a:ln w="12700">
            <a:solidFill>
              <a:schemeClr val="accent4"/>
            </a:solidFill>
            <a:prstDash val="solid"/>
          </a:ln>
        </p:spPr>
      </p:sp>
      <p:pic>
        <p:nvPicPr>
          <p:cNvPr id="10" name="Setup icon" descr="preencoded.png">    </p:cNvPr>
          <p:cNvPicPr>
            <a:picLocks noChangeAspect="1"/>
          </p:cNvPicPr>
          <p:nvPr/>
        </p:nvPicPr>
        <p:blipFill>
          <a:blip r:embed="rId1"/>
          <a:stretch>
            <a:fillRect/>
          </a:stretch>
        </p:blipFill>
        <p:spPr>
          <a:xfrm>
            <a:off x="925373" y="2525573"/>
            <a:ext cx="252374" cy="252374"/>
          </a:xfrm>
          <a:prstGeom prst="rect">
            <a:avLst/>
          </a:prstGeom>
        </p:spPr>
      </p:pic>
      <p:sp>
        <p:nvSpPr>
          <p:cNvPr id="11" name="Text 8"/>
          <p:cNvSpPr txBox="1"/>
          <p:nvPr/>
        </p:nvSpPr>
        <p:spPr>
          <a:xfrm>
            <a:off x="1463040" y="2423160"/>
            <a:ext cx="2834640" cy="457200"/>
          </a:xfrm>
          <a:prstGeom prst="rect">
            <a:avLst/>
          </a:prstGeom>
          <a:noFill/>
          <a:ln/>
        </p:spPr>
        <p:txBody>
          <a:bodyPr wrap="square" lIns="0" tIns="0" rIns="0" bIns="0" rtlCol="0" anchor="ctr"/>
          <a:lstStyle/>
          <a:p>
            <a:pPr indent="0" marL="0">
              <a:buNone/>
            </a:pPr>
            <a:r>
              <a:rPr lang="en-US" sz="1900" b="1" dirty="0">
                <a:solidFill>
                  <a:schemeClr val="bg1"/>
                </a:solidFill>
              </a:rPr>
              <a:t>Set up in VS Code</a:t>
            </a:r>
            <a:endParaRPr lang="en-US" sz="1900" dirty="0"/>
          </a:p>
        </p:txBody>
      </p:sp>
      <p:sp>
        <p:nvSpPr>
          <p:cNvPr id="12" name="Step 1"/>
          <p:cNvSpPr/>
          <p:nvPr/>
        </p:nvSpPr>
        <p:spPr>
          <a:xfrm>
            <a:off x="804672" y="3172968"/>
            <a:ext cx="329184" cy="329184"/>
          </a:xfrm>
          <a:prstGeom prst="ellipse">
            <a:avLst/>
          </a:prstGeom>
          <a:solidFill>
            <a:schemeClr val="accent1"/>
          </a:solidFill>
          <a:ln/>
        </p:spPr>
      </p:sp>
      <p:sp>
        <p:nvSpPr>
          <p:cNvPr id="13" name="Text 10"/>
          <p:cNvSpPr txBox="1"/>
          <p:nvPr/>
        </p:nvSpPr>
        <p:spPr>
          <a:xfrm>
            <a:off x="804672" y="3172968"/>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4" name="Text 11"/>
          <p:cNvSpPr txBox="1"/>
          <p:nvPr/>
        </p:nvSpPr>
        <p:spPr>
          <a:xfrm>
            <a:off x="1280160" y="3063240"/>
            <a:ext cx="2971800" cy="548640"/>
          </a:xfrm>
          <a:prstGeom prst="rect">
            <a:avLst/>
          </a:prstGeom>
          <a:noFill/>
          <a:ln/>
        </p:spPr>
        <p:txBody>
          <a:bodyPr wrap="square" lIns="0" tIns="0" rIns="0" bIns="0" rtlCol="0" anchor="ctr"/>
          <a:lstStyle/>
          <a:p>
            <a:pPr indent="0" marL="0">
              <a:buNone/>
            </a:pPr>
            <a:r>
              <a:rPr lang="en-US" sz="1400" dirty="0">
                <a:solidFill>
                  <a:schemeClr val="bg1"/>
                </a:solidFill>
              </a:rPr>
              <a:t>Admin creates your account (no public signup)</a:t>
            </a:r>
            <a:endParaRPr lang="en-US" sz="1400" dirty="0"/>
          </a:p>
        </p:txBody>
      </p:sp>
      <p:sp>
        <p:nvSpPr>
          <p:cNvPr id="15" name="Step 2"/>
          <p:cNvSpPr/>
          <p:nvPr/>
        </p:nvSpPr>
        <p:spPr>
          <a:xfrm>
            <a:off x="804672" y="3794760"/>
            <a:ext cx="329184" cy="329184"/>
          </a:xfrm>
          <a:prstGeom prst="ellipse">
            <a:avLst/>
          </a:prstGeom>
          <a:solidFill>
            <a:schemeClr val="accent1"/>
          </a:solidFill>
          <a:ln/>
        </p:spPr>
      </p:sp>
      <p:sp>
        <p:nvSpPr>
          <p:cNvPr id="16" name="Text 13"/>
          <p:cNvSpPr txBox="1"/>
          <p:nvPr/>
        </p:nvSpPr>
        <p:spPr>
          <a:xfrm>
            <a:off x="804672" y="3794760"/>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7" name="Text 14"/>
          <p:cNvSpPr txBox="1"/>
          <p:nvPr/>
        </p:nvSpPr>
        <p:spPr>
          <a:xfrm>
            <a:off x="1280160" y="3685032"/>
            <a:ext cx="2971800" cy="548640"/>
          </a:xfrm>
          <a:prstGeom prst="rect">
            <a:avLst/>
          </a:prstGeom>
          <a:noFill/>
          <a:ln/>
        </p:spPr>
        <p:txBody>
          <a:bodyPr wrap="square" lIns="0" tIns="0" rIns="0" bIns="0" rtlCol="0" anchor="ctr"/>
          <a:lstStyle/>
          <a:p>
            <a:pPr indent="0" marL="0">
              <a:buNone/>
            </a:pPr>
            <a:r>
              <a:rPr lang="en-US" sz="1400" dirty="0">
                <a:solidFill>
                  <a:schemeClr val="bg1"/>
                </a:solidFill>
              </a:rPr>
              <a:t>Copy your token from the Setup page</a:t>
            </a:r>
            <a:endParaRPr lang="en-US" sz="1400" dirty="0"/>
          </a:p>
        </p:txBody>
      </p:sp>
      <p:sp>
        <p:nvSpPr>
          <p:cNvPr id="18" name="Step 3"/>
          <p:cNvSpPr/>
          <p:nvPr/>
        </p:nvSpPr>
        <p:spPr>
          <a:xfrm>
            <a:off x="804672" y="4416552"/>
            <a:ext cx="329184" cy="329184"/>
          </a:xfrm>
          <a:prstGeom prst="ellipse">
            <a:avLst/>
          </a:prstGeom>
          <a:solidFill>
            <a:schemeClr val="accent1"/>
          </a:solidFill>
          <a:ln/>
        </p:spPr>
      </p:sp>
      <p:sp>
        <p:nvSpPr>
          <p:cNvPr id="19" name="Text 16"/>
          <p:cNvSpPr txBox="1"/>
          <p:nvPr/>
        </p:nvSpPr>
        <p:spPr>
          <a:xfrm>
            <a:off x="804672" y="4416552"/>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0" name="Text 17"/>
          <p:cNvSpPr txBox="1"/>
          <p:nvPr/>
        </p:nvSpPr>
        <p:spPr>
          <a:xfrm>
            <a:off x="1280160" y="4306824"/>
            <a:ext cx="2971800" cy="548640"/>
          </a:xfrm>
          <a:prstGeom prst="rect">
            <a:avLst/>
          </a:prstGeom>
          <a:noFill/>
          <a:ln/>
        </p:spPr>
        <p:txBody>
          <a:bodyPr wrap="square" lIns="0" tIns="0" rIns="0" bIns="0" rtlCol="0" anchor="ctr"/>
          <a:lstStyle/>
          <a:p>
            <a:pPr indent="0" marL="0">
              <a:buNone/>
            </a:pPr>
            <a:r>
              <a:rPr lang="en-US" sz="1400" dirty="0">
                <a:solidFill>
                  <a:schemeClr val="bg1"/>
                </a:solidFill>
              </a:rPr>
              <a:t>In VS Code's terminal: claude, then /plugin install learnloop</a:t>
            </a:r>
            <a:endParaRPr lang="en-US" sz="1400" dirty="0"/>
          </a:p>
        </p:txBody>
      </p:sp>
      <p:sp>
        <p:nvSpPr>
          <p:cNvPr id="21" name="Step 4"/>
          <p:cNvSpPr/>
          <p:nvPr/>
        </p:nvSpPr>
        <p:spPr>
          <a:xfrm>
            <a:off x="804672" y="5038344"/>
            <a:ext cx="329184" cy="329184"/>
          </a:xfrm>
          <a:prstGeom prst="ellipse">
            <a:avLst/>
          </a:prstGeom>
          <a:solidFill>
            <a:schemeClr val="accent1"/>
          </a:solidFill>
          <a:ln/>
        </p:spPr>
      </p:sp>
      <p:sp>
        <p:nvSpPr>
          <p:cNvPr id="22" name="Text 19"/>
          <p:cNvSpPr txBox="1"/>
          <p:nvPr/>
        </p:nvSpPr>
        <p:spPr>
          <a:xfrm>
            <a:off x="804672" y="5038344"/>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23" name="Text 20"/>
          <p:cNvSpPr txBox="1"/>
          <p:nvPr/>
        </p:nvSpPr>
        <p:spPr>
          <a:xfrm>
            <a:off x="1280160" y="4928616"/>
            <a:ext cx="2971800" cy="548640"/>
          </a:xfrm>
          <a:prstGeom prst="rect">
            <a:avLst/>
          </a:prstGeom>
          <a:noFill/>
          <a:ln/>
        </p:spPr>
        <p:txBody>
          <a:bodyPr wrap="square" lIns="0" tIns="0" rIns="0" bIns="0" rtlCol="0" anchor="ctr"/>
          <a:lstStyle/>
          <a:p>
            <a:pPr indent="0" marL="0">
              <a:buNone/>
            </a:pPr>
            <a:r>
              <a:rPr lang="en-US" sz="1400" dirty="0">
                <a:solidFill>
                  <a:schemeClr val="bg1"/>
                </a:solidFill>
              </a:rPr>
              <a:t>Click Test connection, and you're live</a:t>
            </a:r>
            <a:endParaRPr lang="en-US" sz="1400" dirty="0"/>
          </a:p>
        </p:txBody>
      </p:sp>
      <p:sp>
        <p:nvSpPr>
          <p:cNvPr id="24" name="Developers card"/>
          <p:cNvSpPr/>
          <p:nvPr/>
        </p:nvSpPr>
        <p:spPr>
          <a:xfrm>
            <a:off x="4663440" y="2148840"/>
            <a:ext cx="3383280" cy="3456432"/>
          </a:xfrm>
          <a:prstGeom prst="roundRect">
            <a:avLst>
              <a:gd name="adj" fmla="val 3243"/>
            </a:avLst>
          </a:prstGeom>
          <a:solidFill>
            <a:schemeClr val="tx2"/>
          </a:solidFill>
          <a:ln w="12700">
            <a:solidFill>
              <a:schemeClr val="accent3"/>
            </a:solidFill>
            <a:prstDash val="solid"/>
          </a:ln>
        </p:spPr>
      </p:sp>
      <p:sp>
        <p:nvSpPr>
          <p:cNvPr id="25" name="For developers circle"/>
          <p:cNvSpPr/>
          <p:nvPr/>
        </p:nvSpPr>
        <p:spPr>
          <a:xfrm>
            <a:off x="4892040" y="2377440"/>
            <a:ext cx="548640" cy="548640"/>
          </a:xfrm>
          <a:prstGeom prst="ellipse">
            <a:avLst/>
          </a:prstGeom>
          <a:solidFill>
            <a:schemeClr val="accent3"/>
          </a:solidFill>
          <a:ln w="12700">
            <a:solidFill>
              <a:schemeClr val="accent4"/>
            </a:solidFill>
            <a:prstDash val="solid"/>
          </a:ln>
        </p:spPr>
      </p:sp>
      <p:pic>
        <p:nvPicPr>
          <p:cNvPr id="26" name="For developers icon" descr="preencoded.png">    </p:cNvPr>
          <p:cNvPicPr>
            <a:picLocks noChangeAspect="1"/>
          </p:cNvPicPr>
          <p:nvPr/>
        </p:nvPicPr>
        <p:blipFill>
          <a:blip r:embed="rId2"/>
          <a:stretch>
            <a:fillRect/>
          </a:stretch>
        </p:blipFill>
        <p:spPr>
          <a:xfrm>
            <a:off x="5040173" y="2525573"/>
            <a:ext cx="252374" cy="252374"/>
          </a:xfrm>
          <a:prstGeom prst="rect">
            <a:avLst/>
          </a:prstGeom>
        </p:spPr>
      </p:pic>
      <p:sp>
        <p:nvSpPr>
          <p:cNvPr id="27" name="Text 23"/>
          <p:cNvSpPr txBox="1"/>
          <p:nvPr/>
        </p:nvSpPr>
        <p:spPr>
          <a:xfrm>
            <a:off x="5577840" y="2423160"/>
            <a:ext cx="2286000" cy="457200"/>
          </a:xfrm>
          <a:prstGeom prst="rect">
            <a:avLst/>
          </a:prstGeom>
          <a:noFill/>
          <a:ln/>
        </p:spPr>
        <p:txBody>
          <a:bodyPr wrap="square" lIns="0" tIns="0" rIns="0" bIns="0" rtlCol="0" anchor="ctr"/>
          <a:lstStyle/>
          <a:p>
            <a:pPr indent="0" marL="0">
              <a:buNone/>
            </a:pPr>
            <a:r>
              <a:rPr lang="en-US" sz="1900" b="1" dirty="0">
                <a:solidFill>
                  <a:schemeClr val="bg1"/>
                </a:solidFill>
              </a:rPr>
              <a:t>For developers</a:t>
            </a:r>
            <a:endParaRPr lang="en-US" sz="1900" dirty="0"/>
          </a:p>
        </p:txBody>
      </p:sp>
      <p:sp>
        <p:nvSpPr>
          <p:cNvPr id="28" name="Text 24"/>
          <p:cNvSpPr txBox="1"/>
          <p:nvPr/>
        </p:nvSpPr>
        <p:spPr>
          <a:xfrm>
            <a:off x="4919472" y="3108960"/>
            <a:ext cx="2926080" cy="2313432"/>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chemeClr val="bg1"/>
                </a:solidFill>
              </a:rPr>
              <a:t>Learning feed of every card</a:t>
            </a:r>
            <a:endParaRPr lang="en-US" sz="1400" dirty="0"/>
          </a:p>
          <a:p>
            <a:pPr marL="177800" indent="-177800">
              <a:spcAft>
                <a:spcPts val="900"/>
              </a:spcAft>
              <a:buSzPct val="100000"/>
              <a:buChar char="•"/>
            </a:pPr>
            <a:r>
              <a:rPr lang="en-US" sz="1400" dirty="0">
                <a:solidFill>
                  <a:schemeClr val="bg1"/>
                </a:solidFill>
              </a:rPr>
              <a:t>Concept library: new → seen → known</a:t>
            </a:r>
            <a:endParaRPr lang="en-US" sz="1400" dirty="0"/>
          </a:p>
          <a:p>
            <a:pPr marL="177800" indent="-177800">
              <a:spcAft>
                <a:spcPts val="900"/>
              </a:spcAft>
              <a:buSzPct val="100000"/>
              <a:buChar char="•"/>
            </a:pPr>
            <a:r>
              <a:rPr lang="en-US" sz="1400" dirty="0">
                <a:solidFill>
                  <a:schemeClr val="bg1"/>
                </a:solidFill>
              </a:rPr>
              <a:t>Prove it: explain in your own words, graded by the agent</a:t>
            </a:r>
            <a:endParaRPr lang="en-US" sz="1400" dirty="0"/>
          </a:p>
          <a:p>
            <a:pPr marL="177800" indent="-177800">
              <a:spcAft>
                <a:spcPts val="900"/>
              </a:spcAft>
              <a:buSzPct val="100000"/>
              <a:buChar char="•"/>
            </a:pPr>
            <a:r>
              <a:rPr lang="en-US" sz="1400" dirty="0">
                <a:solidFill>
                  <a:schemeClr val="bg1"/>
                </a:solidFill>
              </a:rPr>
              <a:t>Anti-AI: typing only, timed, tab switches noted</a:t>
            </a:r>
            <a:endParaRPr lang="en-US" sz="1400" dirty="0"/>
          </a:p>
        </p:txBody>
      </p:sp>
      <p:sp>
        <p:nvSpPr>
          <p:cNvPr id="29" name="Team leads card"/>
          <p:cNvSpPr/>
          <p:nvPr/>
        </p:nvSpPr>
        <p:spPr>
          <a:xfrm>
            <a:off x="8275320" y="2148840"/>
            <a:ext cx="3364992" cy="3456432"/>
          </a:xfrm>
          <a:prstGeom prst="roundRect">
            <a:avLst>
              <a:gd name="adj" fmla="val 3261"/>
            </a:avLst>
          </a:prstGeom>
          <a:solidFill>
            <a:schemeClr val="tx2"/>
          </a:solidFill>
          <a:ln w="12700">
            <a:solidFill>
              <a:schemeClr val="accent3"/>
            </a:solidFill>
            <a:prstDash val="solid"/>
          </a:ln>
        </p:spPr>
      </p:sp>
      <p:sp>
        <p:nvSpPr>
          <p:cNvPr id="30" name="For team leads circle"/>
          <p:cNvSpPr/>
          <p:nvPr/>
        </p:nvSpPr>
        <p:spPr>
          <a:xfrm>
            <a:off x="8503920" y="2377440"/>
            <a:ext cx="548640" cy="548640"/>
          </a:xfrm>
          <a:prstGeom prst="ellipse">
            <a:avLst/>
          </a:prstGeom>
          <a:solidFill>
            <a:schemeClr val="accent3"/>
          </a:solidFill>
          <a:ln w="12700">
            <a:solidFill>
              <a:schemeClr val="accent4"/>
            </a:solidFill>
            <a:prstDash val="solid"/>
          </a:ln>
        </p:spPr>
      </p:sp>
      <p:pic>
        <p:nvPicPr>
          <p:cNvPr id="31" name="For team leads icon" descr="preencoded.png">    </p:cNvPr>
          <p:cNvPicPr>
            <a:picLocks noChangeAspect="1"/>
          </p:cNvPicPr>
          <p:nvPr/>
        </p:nvPicPr>
        <p:blipFill>
          <a:blip r:embed="rId3"/>
          <a:stretch>
            <a:fillRect/>
          </a:stretch>
        </p:blipFill>
        <p:spPr>
          <a:xfrm>
            <a:off x="8652053" y="2525573"/>
            <a:ext cx="252374" cy="252374"/>
          </a:xfrm>
          <a:prstGeom prst="rect">
            <a:avLst/>
          </a:prstGeom>
        </p:spPr>
      </p:pic>
      <p:sp>
        <p:nvSpPr>
          <p:cNvPr id="32" name="Text 27"/>
          <p:cNvSpPr txBox="1"/>
          <p:nvPr/>
        </p:nvSpPr>
        <p:spPr>
          <a:xfrm>
            <a:off x="9189720" y="2423160"/>
            <a:ext cx="2267712" cy="457200"/>
          </a:xfrm>
          <a:prstGeom prst="rect">
            <a:avLst/>
          </a:prstGeom>
          <a:noFill/>
          <a:ln/>
        </p:spPr>
        <p:txBody>
          <a:bodyPr wrap="square" lIns="0" tIns="0" rIns="0" bIns="0" rtlCol="0" anchor="ctr"/>
          <a:lstStyle/>
          <a:p>
            <a:pPr indent="0" marL="0">
              <a:buNone/>
            </a:pPr>
            <a:r>
              <a:rPr lang="en-US" sz="1900" b="1" dirty="0">
                <a:solidFill>
                  <a:schemeClr val="bg1"/>
                </a:solidFill>
              </a:rPr>
              <a:t>For team leads</a:t>
            </a:r>
            <a:endParaRPr lang="en-US" sz="1900" dirty="0"/>
          </a:p>
        </p:txBody>
      </p:sp>
      <p:sp>
        <p:nvSpPr>
          <p:cNvPr id="33" name="Text 28"/>
          <p:cNvSpPr txBox="1"/>
          <p:nvPr/>
        </p:nvSpPr>
        <p:spPr>
          <a:xfrm>
            <a:off x="8531352" y="3108960"/>
            <a:ext cx="2907792" cy="2313432"/>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chemeClr val="bg1"/>
                </a:solidFill>
              </a:rPr>
              <a:t>Team mastery and comprehension debt</a:t>
            </a:r>
            <a:endParaRPr lang="en-US" sz="1400" dirty="0"/>
          </a:p>
          <a:p>
            <a:pPr marL="177800" indent="-177800">
              <a:spcAft>
                <a:spcPts val="900"/>
              </a:spcAft>
              <a:buSzPct val="100000"/>
              <a:buChar char="•"/>
            </a:pPr>
            <a:r>
              <a:rPr lang="en-US" sz="1400" dirty="0">
                <a:solidFill>
                  <a:schemeClr val="bg1"/>
                </a:solidFill>
              </a:rPr>
              <a:t>Risk hotspots: code only one person understands</a:t>
            </a:r>
            <a:endParaRPr lang="en-US" sz="1400" dirty="0"/>
          </a:p>
          <a:p>
            <a:pPr marL="177800" indent="-177800">
              <a:spcAft>
                <a:spcPts val="900"/>
              </a:spcAft>
              <a:buSzPct val="100000"/>
              <a:buChar char="•"/>
            </a:pPr>
            <a:r>
              <a:rPr lang="en-US" sz="1400" dirty="0">
                <a:solidFill>
                  <a:schemeClr val="bg1"/>
                </a:solidFill>
              </a:rPr>
              <a:t>Weekly AI briefing with concrete actions</a:t>
            </a:r>
            <a:endParaRPr lang="en-US" sz="1400" dirty="0"/>
          </a:p>
          <a:p>
            <a:pPr marL="177800" indent="-177800">
              <a:spcAft>
                <a:spcPts val="900"/>
              </a:spcAft>
              <a:buSzPct val="100000"/>
              <a:buChar char="•"/>
            </a:pPr>
            <a:r>
              <a:rPr lang="en-US" sz="1400" dirty="0">
                <a:solidFill>
                  <a:schemeClr val="bg1"/>
                </a:solidFill>
              </a:rPr>
              <a:t>Agent activity: every decision traced</a:t>
            </a:r>
            <a:endParaRPr lang="en-US" sz="1400" dirty="0"/>
          </a:p>
        </p:txBody>
      </p:sp>
      <p:sp>
        <p:nvSpPr>
          <p:cNvPr id="34" name="Closing line"/>
          <p:cNvSpPr txBox="1"/>
          <p:nvPr/>
        </p:nvSpPr>
        <p:spPr>
          <a:xfrm>
            <a:off x="548640" y="5760720"/>
            <a:ext cx="11064240" cy="457200"/>
          </a:xfrm>
          <a:prstGeom prst="rect">
            <a:avLst/>
          </a:prstGeom>
          <a:noFill/>
          <a:ln/>
        </p:spPr>
        <p:txBody>
          <a:bodyPr wrap="square" lIns="0" tIns="0" rIns="0" bIns="0" rtlCol="0" anchor="ctr"/>
          <a:lstStyle/>
          <a:p>
            <a:pPr indent="0" marL="0">
              <a:buNone/>
            </a:pPr>
            <a:r>
              <a:rPr lang="en-US" sz="1800" i="1" dirty="0">
                <a:solidFill>
                  <a:schemeClr val="bg1"/>
                </a:solidFill>
              </a:rPr>
              <a:t>Self-reported learning is easy to fake. </a:t>
            </a:r>
            <a:pPr indent="0" marL="0">
              <a:buNone/>
            </a:pPr>
            <a:r>
              <a:rPr lang="en-US" sz="1800" b="1" i="1" dirty="0">
                <a:solidFill>
                  <a:schemeClr val="accent2"/>
                </a:solidFill>
              </a:rPr>
              <a:t>LearnLoop verifies it.</a:t>
            </a:r>
            <a:endParaRPr lang="en-US" sz="1800" dirty="0"/>
          </a:p>
        </p:txBody>
      </p:sp>
      <p:sp>
        <p:nvSpPr>
          <p:cNvPr id="25" name="Slide Number Placeholder 0"/>
          <p:cNvSpPr>
            <a:spLocks noGrp="1"/>
          </p:cNvSpPr>
          <p:nvPr>
            <p:ph type="sldNum" sz="quarter" idx="4294967295"/>
          </p:nvPr>
        </p:nvSpPr>
        <p:spPr>
          <a:xfrm>
            <a:off x="11247120" y="638251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theme/theme1.xml><?xml version="1.0" encoding="utf-8"?>
<a:theme xmlns:a="http://schemas.openxmlformats.org/drawingml/2006/main" name="LearnLoop Auralith">
  <a:themeElements>
    <a:clrScheme name="LearnLoop Auralith">
      <a:dk1>
        <a:srgbClr val="0A0F0C"/>
      </a:dk1>
      <a:lt1>
        <a:srgbClr val="EEF4F0"/>
      </a:lt1>
      <a:dk2>
        <a:srgbClr val="13211A"/>
      </a:dk2>
      <a:lt2>
        <a:srgbClr val="9DB4A7"/>
      </a:lt2>
      <a:accent1>
        <a:srgbClr val="7EE2A8"/>
      </a:accent1>
      <a:accent2>
        <a:srgbClr val="F59E42"/>
      </a:accent2>
      <a:accent3>
        <a:srgbClr val="1E3A2C"/>
      </a:accent3>
      <a:accent4>
        <a:srgbClr val="2F6B4C"/>
      </a:accent4>
      <a:accent5>
        <a:srgbClr val="0F1813"/>
      </a:accent5>
      <a:accent6>
        <a:srgbClr val="C9EEDB"/>
      </a:accent6>
      <a:hlink>
        <a:srgbClr val="7EE2A8"/>
      </a:hlink>
      <a:folHlink>
        <a:srgbClr val="9DB4A7"/>
      </a:folHlink>
    </a:clrScheme>
    <a:fontScheme name="LearnLoop Auralith">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Auralith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LearnLoop by Auralith</dc:title>
  <dc:subject>PptxGenJS Presentation</dc:subject>
  <dc:creator>Auralith</dc:creator>
  <cp:lastModifiedBy>Auralith</cp:lastModifiedBy>
  <cp:revision>1</cp:revision>
  <dcterms:created xsi:type="dcterms:W3CDTF">2026-10-03T15:29:11Z</dcterms:created>
  <dcterms:modified xsi:type="dcterms:W3CDTF">2026-10-03T15:29:11Z</dcterms:modified>
</cp:coreProperties>
</file>